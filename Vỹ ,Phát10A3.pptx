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0" d="100"/>
          <a:sy n="90" d="100"/>
        </p:scale>
        <p:origin x="576"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1E7497-9228-45B0-A4EB-93702ADB6014}" type="datetimeFigureOut">
              <a:rPr lang="vi-VN" smtClean="0"/>
              <a:t>23/04/2026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A74291C0-24E2-4E2F-A9F4-AB20D3FCA3B4}" type="slidenum">
              <a:rPr lang="vi-VN" smtClean="0"/>
              <a:t>‹#›</a:t>
            </a:fld>
            <a:endParaRPr lang="vi-VN"/>
          </a:p>
        </p:txBody>
      </p:sp>
    </p:spTree>
    <p:extLst>
      <p:ext uri="{BB962C8B-B14F-4D97-AF65-F5344CB8AC3E}">
        <p14:creationId xmlns:p14="http://schemas.microsoft.com/office/powerpoint/2010/main" val="2180276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0C1E7497-9228-45B0-A4EB-93702ADB6014}" type="datetimeFigureOut">
              <a:rPr lang="vi-VN" smtClean="0"/>
              <a:t>23/04/2026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A74291C0-24E2-4E2F-A9F4-AB20D3FCA3B4}" type="slidenum">
              <a:rPr lang="vi-VN" smtClean="0"/>
              <a:t>‹#›</a:t>
            </a:fld>
            <a:endParaRPr lang="vi-VN"/>
          </a:p>
        </p:txBody>
      </p:sp>
    </p:spTree>
    <p:extLst>
      <p:ext uri="{BB962C8B-B14F-4D97-AF65-F5344CB8AC3E}">
        <p14:creationId xmlns:p14="http://schemas.microsoft.com/office/powerpoint/2010/main" val="1957075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1E7497-9228-45B0-A4EB-93702ADB6014}" type="datetimeFigureOut">
              <a:rPr lang="vi-VN" smtClean="0"/>
              <a:t>23/04/2026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A74291C0-24E2-4E2F-A9F4-AB20D3FCA3B4}" type="slidenum">
              <a:rPr lang="vi-VN" smtClean="0"/>
              <a:t>‹#›</a:t>
            </a:fld>
            <a:endParaRPr lang="vi-VN"/>
          </a:p>
        </p:txBody>
      </p:sp>
    </p:spTree>
    <p:extLst>
      <p:ext uri="{BB962C8B-B14F-4D97-AF65-F5344CB8AC3E}">
        <p14:creationId xmlns:p14="http://schemas.microsoft.com/office/powerpoint/2010/main" val="479427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1E7497-9228-45B0-A4EB-93702ADB6014}" type="datetimeFigureOut">
              <a:rPr lang="vi-VN" smtClean="0"/>
              <a:t>23/04/2026</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A74291C0-24E2-4E2F-A9F4-AB20D3FCA3B4}" type="slidenum">
              <a:rPr lang="vi-VN" smtClean="0"/>
              <a:t>‹#›</a:t>
            </a:fld>
            <a:endParaRPr lang="vi-VN"/>
          </a:p>
        </p:txBody>
      </p:sp>
    </p:spTree>
    <p:extLst>
      <p:ext uri="{BB962C8B-B14F-4D97-AF65-F5344CB8AC3E}">
        <p14:creationId xmlns:p14="http://schemas.microsoft.com/office/powerpoint/2010/main" val="3885218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1E7497-9228-45B0-A4EB-93702ADB6014}" type="datetimeFigureOut">
              <a:rPr lang="vi-VN" smtClean="0"/>
              <a:t>23/04/2026</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A74291C0-24E2-4E2F-A9F4-AB20D3FCA3B4}" type="slidenum">
              <a:rPr lang="vi-VN" smtClean="0"/>
              <a:t>‹#›</a:t>
            </a:fld>
            <a:endParaRPr lang="vi-VN"/>
          </a:p>
        </p:txBody>
      </p:sp>
    </p:spTree>
    <p:extLst>
      <p:ext uri="{BB962C8B-B14F-4D97-AF65-F5344CB8AC3E}">
        <p14:creationId xmlns:p14="http://schemas.microsoft.com/office/powerpoint/2010/main" val="1090230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0C1E7497-9228-45B0-A4EB-93702ADB6014}" type="datetimeFigureOut">
              <a:rPr lang="vi-VN" smtClean="0"/>
              <a:t>23/04/2026</a:t>
            </a:fld>
            <a:endParaRPr lang="vi-VN"/>
          </a:p>
        </p:txBody>
      </p:sp>
      <p:sp>
        <p:nvSpPr>
          <p:cNvPr id="5" name="Footer Placeholder 3"/>
          <p:cNvSpPr>
            <a:spLocks noGrp="1"/>
          </p:cNvSpPr>
          <p:nvPr>
            <p:ph type="ftr" sz="quarter" idx="11"/>
          </p:nvPr>
        </p:nvSpPr>
        <p:spPr/>
        <p:txBody>
          <a:bodyPr/>
          <a:lstStyle/>
          <a:p>
            <a:endParaRPr lang="vi-VN"/>
          </a:p>
        </p:txBody>
      </p:sp>
      <p:sp>
        <p:nvSpPr>
          <p:cNvPr id="6" name="Slide Number Placeholder 4"/>
          <p:cNvSpPr>
            <a:spLocks noGrp="1"/>
          </p:cNvSpPr>
          <p:nvPr>
            <p:ph type="sldNum" sz="quarter" idx="12"/>
          </p:nvPr>
        </p:nvSpPr>
        <p:spPr/>
        <p:txBody>
          <a:bodyPr/>
          <a:lstStyle/>
          <a:p>
            <a:fld id="{A74291C0-24E2-4E2F-A9F4-AB20D3FCA3B4}" type="slidenum">
              <a:rPr lang="vi-VN" smtClean="0"/>
              <a:t>‹#›</a:t>
            </a:fld>
            <a:endParaRPr lang="vi-VN"/>
          </a:p>
        </p:txBody>
      </p:sp>
    </p:spTree>
    <p:extLst>
      <p:ext uri="{BB962C8B-B14F-4D97-AF65-F5344CB8AC3E}">
        <p14:creationId xmlns:p14="http://schemas.microsoft.com/office/powerpoint/2010/main" val="288693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C1E7497-9228-45B0-A4EB-93702ADB6014}" type="datetimeFigureOut">
              <a:rPr lang="vi-VN" smtClean="0"/>
              <a:t>23/04/2026</a:t>
            </a:fld>
            <a:endParaRPr lang="vi-VN"/>
          </a:p>
        </p:txBody>
      </p:sp>
      <p:sp>
        <p:nvSpPr>
          <p:cNvPr id="5" name="Footer Placeholder 2"/>
          <p:cNvSpPr>
            <a:spLocks noGrp="1"/>
          </p:cNvSpPr>
          <p:nvPr>
            <p:ph type="ftr" sz="quarter" idx="11"/>
          </p:nvPr>
        </p:nvSpPr>
        <p:spPr/>
        <p:txBody>
          <a:bodyPr/>
          <a:lstStyle/>
          <a:p>
            <a:endParaRPr lang="vi-VN"/>
          </a:p>
        </p:txBody>
      </p:sp>
      <p:sp>
        <p:nvSpPr>
          <p:cNvPr id="6" name="Slide Number Placeholder 3"/>
          <p:cNvSpPr>
            <a:spLocks noGrp="1"/>
          </p:cNvSpPr>
          <p:nvPr>
            <p:ph type="sldNum" sz="quarter" idx="12"/>
          </p:nvPr>
        </p:nvSpPr>
        <p:spPr/>
        <p:txBody>
          <a:bodyPr/>
          <a:lstStyle/>
          <a:p>
            <a:fld id="{A74291C0-24E2-4E2F-A9F4-AB20D3FCA3B4}" type="slidenum">
              <a:rPr lang="vi-VN" smtClean="0"/>
              <a:t>‹#›</a:t>
            </a:fld>
            <a:endParaRPr lang="vi-VN"/>
          </a:p>
        </p:txBody>
      </p:sp>
    </p:spTree>
    <p:extLst>
      <p:ext uri="{BB962C8B-B14F-4D97-AF65-F5344CB8AC3E}">
        <p14:creationId xmlns:p14="http://schemas.microsoft.com/office/powerpoint/2010/main" val="3040947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0C1E7497-9228-45B0-A4EB-93702ADB6014}" type="datetimeFigureOut">
              <a:rPr lang="vi-VN" smtClean="0"/>
              <a:t>23/04/2026</a:t>
            </a:fld>
            <a:endParaRPr lang="vi-VN"/>
          </a:p>
        </p:txBody>
      </p:sp>
      <p:sp>
        <p:nvSpPr>
          <p:cNvPr id="5" name="Footer Placeholder 5"/>
          <p:cNvSpPr>
            <a:spLocks noGrp="1"/>
          </p:cNvSpPr>
          <p:nvPr>
            <p:ph type="ftr" sz="quarter" idx="11"/>
          </p:nvPr>
        </p:nvSpPr>
        <p:spPr/>
        <p:txBody>
          <a:bodyPr/>
          <a:lstStyle/>
          <a:p>
            <a:endParaRPr lang="vi-VN"/>
          </a:p>
        </p:txBody>
      </p:sp>
      <p:sp>
        <p:nvSpPr>
          <p:cNvPr id="6" name="Slide Number Placeholder 6"/>
          <p:cNvSpPr>
            <a:spLocks noGrp="1"/>
          </p:cNvSpPr>
          <p:nvPr>
            <p:ph type="sldNum" sz="quarter" idx="12"/>
          </p:nvPr>
        </p:nvSpPr>
        <p:spPr/>
        <p:txBody>
          <a:bodyPr/>
          <a:lstStyle/>
          <a:p>
            <a:fld id="{A74291C0-24E2-4E2F-A9F4-AB20D3FCA3B4}" type="slidenum">
              <a:rPr lang="vi-VN" smtClean="0"/>
              <a:t>‹#›</a:t>
            </a:fld>
            <a:endParaRPr lang="vi-VN"/>
          </a:p>
        </p:txBody>
      </p:sp>
    </p:spTree>
    <p:extLst>
      <p:ext uri="{BB962C8B-B14F-4D97-AF65-F5344CB8AC3E}">
        <p14:creationId xmlns:p14="http://schemas.microsoft.com/office/powerpoint/2010/main" val="2515154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1E7497-9228-45B0-A4EB-93702ADB6014}" type="datetimeFigureOut">
              <a:rPr lang="vi-VN" smtClean="0"/>
              <a:t>23/04/2026</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A74291C0-24E2-4E2F-A9F4-AB20D3FCA3B4}" type="slidenum">
              <a:rPr lang="vi-VN" smtClean="0"/>
              <a:t>‹#›</a:t>
            </a:fld>
            <a:endParaRPr lang="vi-VN"/>
          </a:p>
        </p:txBody>
      </p:sp>
    </p:spTree>
    <p:extLst>
      <p:ext uri="{BB962C8B-B14F-4D97-AF65-F5344CB8AC3E}">
        <p14:creationId xmlns:p14="http://schemas.microsoft.com/office/powerpoint/2010/main" val="1226157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1E7497-9228-45B0-A4EB-93702ADB6014}" type="datetimeFigureOut">
              <a:rPr lang="vi-VN" smtClean="0"/>
              <a:t>23/04/2026</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A74291C0-24E2-4E2F-A9F4-AB20D3FCA3B4}" type="slidenum">
              <a:rPr lang="vi-VN" smtClean="0"/>
              <a:t>‹#›</a:t>
            </a:fld>
            <a:endParaRPr lang="vi-VN"/>
          </a:p>
        </p:txBody>
      </p:sp>
    </p:spTree>
    <p:extLst>
      <p:ext uri="{BB962C8B-B14F-4D97-AF65-F5344CB8AC3E}">
        <p14:creationId xmlns:p14="http://schemas.microsoft.com/office/powerpoint/2010/main" val="18324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C1E7497-9228-45B0-A4EB-93702ADB6014}" type="datetimeFigureOut">
              <a:rPr lang="vi-VN" smtClean="0"/>
              <a:t>23/04/2026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A74291C0-24E2-4E2F-A9F4-AB20D3FCA3B4}" type="slidenum">
              <a:rPr lang="vi-VN" smtClean="0"/>
              <a:t>‹#›</a:t>
            </a:fld>
            <a:endParaRPr lang="vi-VN"/>
          </a:p>
        </p:txBody>
      </p:sp>
    </p:spTree>
    <p:extLst>
      <p:ext uri="{BB962C8B-B14F-4D97-AF65-F5344CB8AC3E}">
        <p14:creationId xmlns:p14="http://schemas.microsoft.com/office/powerpoint/2010/main" val="4721809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C1E7497-9228-45B0-A4EB-93702ADB6014}" type="datetimeFigureOut">
              <a:rPr lang="vi-VN" smtClean="0"/>
              <a:t>23/04/2026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A74291C0-24E2-4E2F-A9F4-AB20D3FCA3B4}" type="slidenum">
              <a:rPr lang="vi-VN" smtClean="0"/>
              <a:t>‹#›</a:t>
            </a:fld>
            <a:endParaRPr lang="vi-V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7704189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1E7497-9228-45B0-A4EB-93702ADB6014}" type="datetimeFigureOut">
              <a:rPr lang="vi-VN" smtClean="0"/>
              <a:t>23/04/2026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A74291C0-24E2-4E2F-A9F4-AB20D3FCA3B4}" type="slidenum">
              <a:rPr lang="vi-VN" smtClean="0"/>
              <a:t>‹#›</a:t>
            </a:fld>
            <a:endParaRPr lang="vi-VN"/>
          </a:p>
        </p:txBody>
      </p:sp>
    </p:spTree>
    <p:extLst>
      <p:ext uri="{BB962C8B-B14F-4D97-AF65-F5344CB8AC3E}">
        <p14:creationId xmlns:p14="http://schemas.microsoft.com/office/powerpoint/2010/main" val="17210341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C1E7497-9228-45B0-A4EB-93702ADB6014}" type="datetimeFigureOut">
              <a:rPr lang="vi-VN" smtClean="0"/>
              <a:t>23/04/2026</a:t>
            </a:fld>
            <a:endParaRPr lang="vi-VN"/>
          </a:p>
        </p:txBody>
      </p:sp>
      <p:sp>
        <p:nvSpPr>
          <p:cNvPr id="4"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A74291C0-24E2-4E2F-A9F4-AB20D3FCA3B4}" type="slidenum">
              <a:rPr lang="vi-VN" smtClean="0"/>
              <a:t>‹#›</a:t>
            </a:fld>
            <a:endParaRPr lang="vi-VN"/>
          </a:p>
        </p:txBody>
      </p:sp>
    </p:spTree>
    <p:extLst>
      <p:ext uri="{BB962C8B-B14F-4D97-AF65-F5344CB8AC3E}">
        <p14:creationId xmlns:p14="http://schemas.microsoft.com/office/powerpoint/2010/main" val="13539368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C1E7497-9228-45B0-A4EB-93702ADB6014}" type="datetimeFigureOut">
              <a:rPr lang="vi-VN" smtClean="0"/>
              <a:t>23/04/2026</a:t>
            </a:fld>
            <a:endParaRPr lang="vi-VN"/>
          </a:p>
        </p:txBody>
      </p:sp>
      <p:sp>
        <p:nvSpPr>
          <p:cNvPr id="4"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A74291C0-24E2-4E2F-A9F4-AB20D3FCA3B4}" type="slidenum">
              <a:rPr lang="vi-VN" smtClean="0"/>
              <a:t>‹#›</a:t>
            </a:fld>
            <a:endParaRPr lang="vi-VN"/>
          </a:p>
        </p:txBody>
      </p:sp>
    </p:spTree>
    <p:extLst>
      <p:ext uri="{BB962C8B-B14F-4D97-AF65-F5344CB8AC3E}">
        <p14:creationId xmlns:p14="http://schemas.microsoft.com/office/powerpoint/2010/main" val="26372902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1E7497-9228-45B0-A4EB-93702ADB6014}" type="datetimeFigureOut">
              <a:rPr lang="vi-VN" smtClean="0"/>
              <a:t>23/04/2026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A74291C0-24E2-4E2F-A9F4-AB20D3FCA3B4}" type="slidenum">
              <a:rPr lang="vi-VN" smtClean="0"/>
              <a:t>‹#›</a:t>
            </a:fld>
            <a:endParaRPr lang="vi-VN"/>
          </a:p>
        </p:txBody>
      </p:sp>
    </p:spTree>
    <p:extLst>
      <p:ext uri="{BB962C8B-B14F-4D97-AF65-F5344CB8AC3E}">
        <p14:creationId xmlns:p14="http://schemas.microsoft.com/office/powerpoint/2010/main" val="8392321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1E7497-9228-45B0-A4EB-93702ADB6014}" type="datetimeFigureOut">
              <a:rPr lang="vi-VN" smtClean="0"/>
              <a:t>23/04/2026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A74291C0-24E2-4E2F-A9F4-AB20D3FCA3B4}" type="slidenum">
              <a:rPr lang="vi-VN" smtClean="0"/>
              <a:t>‹#›</a:t>
            </a:fld>
            <a:endParaRPr lang="vi-VN"/>
          </a:p>
        </p:txBody>
      </p:sp>
    </p:spTree>
    <p:extLst>
      <p:ext uri="{BB962C8B-B14F-4D97-AF65-F5344CB8AC3E}">
        <p14:creationId xmlns:p14="http://schemas.microsoft.com/office/powerpoint/2010/main" val="2208032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C1E7497-9228-45B0-A4EB-93702ADB6014}" type="datetimeFigureOut">
              <a:rPr lang="vi-VN" smtClean="0"/>
              <a:t>23/04/2026</a:t>
            </a:fld>
            <a:endParaRPr lang="vi-V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vi-V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74291C0-24E2-4E2F-A9F4-AB20D3FCA3B4}" type="slidenum">
              <a:rPr lang="vi-VN" smtClean="0"/>
              <a:t>‹#›</a:t>
            </a:fld>
            <a:endParaRPr lang="vi-VN"/>
          </a:p>
        </p:txBody>
      </p:sp>
    </p:spTree>
    <p:extLst>
      <p:ext uri="{BB962C8B-B14F-4D97-AF65-F5344CB8AC3E}">
        <p14:creationId xmlns:p14="http://schemas.microsoft.com/office/powerpoint/2010/main" val="2729246619"/>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05367-D0A9-4BD7-A8DE-B4FAA3CED38C}"/>
              </a:ext>
            </a:extLst>
          </p:cNvPr>
          <p:cNvSpPr>
            <a:spLocks noGrp="1"/>
          </p:cNvSpPr>
          <p:nvPr>
            <p:ph type="ctrTitle"/>
          </p:nvPr>
        </p:nvSpPr>
        <p:spPr>
          <a:xfrm>
            <a:off x="1154955" y="1447799"/>
            <a:ext cx="8825658" cy="3329581"/>
          </a:xfrm>
        </p:spPr>
        <p:txBody>
          <a:bodyPr/>
          <a:lstStyle/>
          <a:p>
            <a:r>
              <a:rPr lang="vi-VN" sz="4800"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BÀI 33: NGHỀ THIẾT KẾ ĐỒ HỌA MÁY TÍNH</a:t>
            </a:r>
          </a:p>
        </p:txBody>
      </p:sp>
      <p:sp>
        <p:nvSpPr>
          <p:cNvPr id="3" name="Subtitle 2">
            <a:extLst>
              <a:ext uri="{FF2B5EF4-FFF2-40B4-BE49-F238E27FC236}">
                <a16:creationId xmlns:a16="http://schemas.microsoft.com/office/drawing/2014/main" id="{B919459C-53BC-405C-8FC8-F7C8C8BFA513}"/>
              </a:ext>
            </a:extLst>
          </p:cNvPr>
          <p:cNvSpPr>
            <a:spLocks noGrp="1"/>
          </p:cNvSpPr>
          <p:nvPr>
            <p:ph type="subTitle" idx="1"/>
          </p:nvPr>
        </p:nvSpPr>
        <p:spPr>
          <a:xfrm>
            <a:off x="687123" y="1215472"/>
            <a:ext cx="8825658" cy="1293811"/>
          </a:xfrm>
        </p:spPr>
        <p:txBody>
          <a:bodyPr>
            <a:normAutofit/>
          </a:bodyPr>
          <a:lstStyle/>
          <a:p>
            <a:r>
              <a:rPr lang="en-US" i="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Họ và tên: Trần trọng vỹ</a:t>
            </a:r>
          </a:p>
          <a:p>
            <a:r>
              <a:rPr lang="en-US" i="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nguyễn tấn phát</a:t>
            </a:r>
          </a:p>
          <a:p>
            <a:r>
              <a:rPr lang="en-US" i="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Lớp :10A3</a:t>
            </a:r>
            <a:endParaRPr lang="vi-VN" i="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1674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53901-79AC-4AC0-8D12-9F0D038DCFD3}"/>
              </a:ext>
            </a:extLst>
          </p:cNvPr>
          <p:cNvSpPr>
            <a:spLocks noGrp="1"/>
          </p:cNvSpPr>
          <p:nvPr>
            <p:ph type="title"/>
          </p:nvPr>
        </p:nvSpPr>
        <p:spPr/>
        <p:txBody>
          <a:bodyPr/>
          <a:lstStyle/>
          <a:p>
            <a:r>
              <a:rPr lang="vi-V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1: Khái niệm về thiết kế đồ họa</a:t>
            </a:r>
          </a:p>
        </p:txBody>
      </p:sp>
      <p:sp>
        <p:nvSpPr>
          <p:cNvPr id="3" name="Content Placeholder 2">
            <a:extLst>
              <a:ext uri="{FF2B5EF4-FFF2-40B4-BE49-F238E27FC236}">
                <a16:creationId xmlns:a16="http://schemas.microsoft.com/office/drawing/2014/main" id="{9DE2D161-C0FC-454A-A578-92BAC9DE23B6}"/>
              </a:ext>
            </a:extLst>
          </p:cNvPr>
          <p:cNvSpPr>
            <a:spLocks noGrp="1"/>
          </p:cNvSpPr>
          <p:nvPr>
            <p:ph idx="1"/>
          </p:nvPr>
        </p:nvSpPr>
        <p:spPr/>
        <p:txBody>
          <a:bodyPr>
            <a:normAutofit/>
          </a:bodyPr>
          <a:lstStyle/>
          <a:p>
            <a:r>
              <a:rPr lang="vi-VN" sz="2800"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Thiết kế đồ họa là sáng tạo các thông điệp truyền thông</a:t>
            </a:r>
            <a:r>
              <a:rPr lang="en-US" sz="2800"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vi-VN" sz="2800" i="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kết hợp giữa hình ảnh, kiểu chữ, màu sắc để truyền tải thông tin đến người xem. Thiết kế đồ họa đem lại nhiều lợi ích cho mọi ngành nghề, lĩnh vực.</a:t>
            </a:r>
          </a:p>
        </p:txBody>
      </p:sp>
    </p:spTree>
    <p:extLst>
      <p:ext uri="{BB962C8B-B14F-4D97-AF65-F5344CB8AC3E}">
        <p14:creationId xmlns:p14="http://schemas.microsoft.com/office/powerpoint/2010/main" val="2646527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A7842-A6A3-4F05-A6F7-1DFA0452668C}"/>
              </a:ext>
            </a:extLst>
          </p:cNvPr>
          <p:cNvSpPr>
            <a:spLocks noGrp="1"/>
          </p:cNvSpPr>
          <p:nvPr>
            <p:ph type="title"/>
          </p:nvPr>
        </p:nvSpPr>
        <p:spPr/>
        <p:txBody>
          <a:bodyPr/>
          <a:lstStyle/>
          <a:p>
            <a:r>
              <a:rPr 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vi-V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Kiến thức, kĩ năng cần có của người thiết kế đồ họa</a:t>
            </a:r>
          </a:p>
        </p:txBody>
      </p:sp>
      <p:sp>
        <p:nvSpPr>
          <p:cNvPr id="3" name="Content Placeholder 2">
            <a:extLst>
              <a:ext uri="{FF2B5EF4-FFF2-40B4-BE49-F238E27FC236}">
                <a16:creationId xmlns:a16="http://schemas.microsoft.com/office/drawing/2014/main" id="{99C1FA04-9D18-4526-8D4A-79D5A7E50743}"/>
              </a:ext>
            </a:extLst>
          </p:cNvPr>
          <p:cNvSpPr>
            <a:spLocks noGrp="1"/>
          </p:cNvSpPr>
          <p:nvPr>
            <p:ph idx="1"/>
          </p:nvPr>
        </p:nvSpPr>
        <p:spPr>
          <a:xfrm>
            <a:off x="646110" y="1998920"/>
            <a:ext cx="5754689" cy="4859079"/>
          </a:xfrm>
        </p:spPr>
        <p:txBody>
          <a:bodyPr>
            <a:normAutofit fontScale="77500" lnSpcReduction="20000"/>
          </a:bodyPr>
          <a:lstStyle/>
          <a:p>
            <a:r>
              <a:rPr lang="vi-VN" sz="1800" b="1"/>
              <a:t>1. Kiến thức nền tảng</a:t>
            </a:r>
          </a:p>
          <a:p>
            <a:pPr>
              <a:buFont typeface="Arial" panose="020B0604020202020204" pitchFamily="34" charset="0"/>
              <a:buChar char="•"/>
            </a:pPr>
            <a:r>
              <a:rPr lang="vi-VN" sz="1800"/>
              <a:t>Nguyên lý thiết kế: cân bằng, tương phản, phân cấp, nhịp điệu </a:t>
            </a:r>
          </a:p>
          <a:p>
            <a:pPr>
              <a:buFont typeface="Arial" panose="020B0604020202020204" pitchFamily="34" charset="0"/>
              <a:buChar char="•"/>
            </a:pPr>
            <a:r>
              <a:rPr lang="vi-VN" sz="1800"/>
              <a:t>Màu sắc: bánh xe màu, phối màu, tâm lý màu </a:t>
            </a:r>
          </a:p>
          <a:p>
            <a:pPr>
              <a:buFont typeface="Arial" panose="020B0604020202020204" pitchFamily="34" charset="0"/>
              <a:buChar char="•"/>
            </a:pPr>
            <a:r>
              <a:rPr lang="vi-VN" sz="1800"/>
              <a:t>Typography: font chữ, cách dùng chữ </a:t>
            </a:r>
          </a:p>
          <a:p>
            <a:pPr>
              <a:buFont typeface="Arial" panose="020B0604020202020204" pitchFamily="34" charset="0"/>
              <a:buChar char="•"/>
            </a:pPr>
            <a:r>
              <a:rPr lang="vi-VN" sz="1800"/>
              <a:t>Bố cục: grid, sắp xếp nội dung </a:t>
            </a:r>
          </a:p>
          <a:p>
            <a:pPr>
              <a:buFont typeface="Arial" panose="020B0604020202020204" pitchFamily="34" charset="0"/>
              <a:buChar char="•"/>
            </a:pPr>
            <a:r>
              <a:rPr lang="vi-VN" sz="1800"/>
              <a:t>Hình ảnh: ảnh, icon, định dạng file</a:t>
            </a:r>
          </a:p>
          <a:p>
            <a:r>
              <a:rPr lang="vi-VN" sz="1600" b="1"/>
              <a:t>2. Tư duy &amp; kỹ năng</a:t>
            </a:r>
          </a:p>
          <a:p>
            <a:pPr>
              <a:buFont typeface="Arial" panose="020B0604020202020204" pitchFamily="34" charset="0"/>
              <a:buChar char="•"/>
            </a:pPr>
            <a:r>
              <a:rPr lang="vi-VN" sz="1600"/>
              <a:t>Tư duy sáng tạo </a:t>
            </a:r>
          </a:p>
          <a:p>
            <a:pPr>
              <a:buFont typeface="Arial" panose="020B0604020202020204" pitchFamily="34" charset="0"/>
              <a:buChar char="•"/>
            </a:pPr>
            <a:r>
              <a:rPr lang="vi-VN" sz="1600"/>
              <a:t>Giải quyết vấn đề </a:t>
            </a:r>
          </a:p>
          <a:p>
            <a:pPr>
              <a:buFont typeface="Arial" panose="020B0604020202020204" pitchFamily="34" charset="0"/>
              <a:buChar char="•"/>
            </a:pPr>
            <a:r>
              <a:rPr lang="vi-VN" sz="1600"/>
              <a:t>Nghiên cứu khách hàng </a:t>
            </a:r>
          </a:p>
          <a:p>
            <a:pPr>
              <a:buFont typeface="Arial" panose="020B0604020202020204" pitchFamily="34" charset="0"/>
              <a:buChar char="•"/>
            </a:pPr>
            <a:r>
              <a:rPr lang="vi-VN" sz="1600"/>
              <a:t>Giao tiếp &amp; làm việc nhóm</a:t>
            </a:r>
          </a:p>
          <a:p>
            <a:r>
              <a:rPr lang="vi-VN" sz="1600" b="1"/>
              <a:t>3. Kỹ thuật &amp; công cụ</a:t>
            </a:r>
          </a:p>
          <a:p>
            <a:pPr>
              <a:buFont typeface="Arial" panose="020B0604020202020204" pitchFamily="34" charset="0"/>
              <a:buChar char="•"/>
            </a:pPr>
            <a:r>
              <a:rPr lang="vi-VN" sz="1600"/>
              <a:t>Adobe Photoshop (chỉnh ảnh) </a:t>
            </a:r>
          </a:p>
          <a:p>
            <a:pPr>
              <a:buFont typeface="Arial" panose="020B0604020202020204" pitchFamily="34" charset="0"/>
              <a:buChar char="•"/>
            </a:pPr>
            <a:r>
              <a:rPr lang="vi-VN" sz="1600"/>
              <a:t>Adobe Illustrator (vector, logo) </a:t>
            </a:r>
          </a:p>
          <a:p>
            <a:pPr>
              <a:buFont typeface="Arial" panose="020B0604020202020204" pitchFamily="34" charset="0"/>
              <a:buChar char="•"/>
            </a:pPr>
            <a:r>
              <a:rPr lang="vi-VN" sz="1600"/>
              <a:t>Adobe InDesign (dàn trang) </a:t>
            </a:r>
          </a:p>
          <a:p>
            <a:pPr>
              <a:buFont typeface="Arial" panose="020B0604020202020204" pitchFamily="34" charset="0"/>
              <a:buChar char="•"/>
            </a:pPr>
            <a:r>
              <a:rPr lang="vi-VN" sz="1600"/>
              <a:t>Figma (UI/UX) </a:t>
            </a:r>
          </a:p>
          <a:p>
            <a:pPr>
              <a:buFont typeface="Arial" panose="020B0604020202020204" pitchFamily="34" charset="0"/>
              <a:buChar char="•"/>
            </a:pPr>
            <a:r>
              <a:rPr lang="vi-VN" sz="1600"/>
              <a:t>Kỹ thuật: chỉnh ảnh, vẽ vector, thiết kế ấn phẩm </a:t>
            </a:r>
          </a:p>
          <a:p>
            <a:pPr marL="0" indent="0">
              <a:buNone/>
            </a:pPr>
            <a:endParaRPr lang="vi-VN" sz="1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0081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263FF-11A0-416B-B42D-66BD779C34BA}"/>
              </a:ext>
            </a:extLst>
          </p:cNvPr>
          <p:cNvSpPr>
            <a:spLocks noGrp="1"/>
          </p:cNvSpPr>
          <p:nvPr>
            <p:ph type="title"/>
          </p:nvPr>
        </p:nvSpPr>
        <p:spPr/>
        <p:txBody>
          <a:bodyPr/>
          <a:lstStyle/>
          <a:p>
            <a:r>
              <a:rPr lang="vi-V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r>
              <a:rPr lang="vi-VN" b="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Học tập và việc làm trong ngành thiết kế đồ họa</a:t>
            </a:r>
          </a:p>
        </p:txBody>
      </p:sp>
      <p:sp>
        <p:nvSpPr>
          <p:cNvPr id="3" name="Content Placeholder 2">
            <a:extLst>
              <a:ext uri="{FF2B5EF4-FFF2-40B4-BE49-F238E27FC236}">
                <a16:creationId xmlns:a16="http://schemas.microsoft.com/office/drawing/2014/main" id="{7D053CF5-2FB9-48E8-A018-A01B9CDB421A}"/>
              </a:ext>
            </a:extLst>
          </p:cNvPr>
          <p:cNvSpPr>
            <a:spLocks noGrp="1"/>
          </p:cNvSpPr>
          <p:nvPr>
            <p:ph idx="1"/>
          </p:nvPr>
        </p:nvSpPr>
        <p:spPr>
          <a:xfrm>
            <a:off x="646111" y="1853248"/>
            <a:ext cx="4617005" cy="5263116"/>
          </a:xfrm>
        </p:spPr>
        <p:txBody>
          <a:bodyPr>
            <a:normAutofit fontScale="70000" lnSpcReduction="20000"/>
          </a:bodyPr>
          <a:lstStyle/>
          <a:p>
            <a:r>
              <a:rPr lang="vi-VN" b="1"/>
              <a:t>📚 Học tập trong ngành thiết kế đồ họa</a:t>
            </a:r>
          </a:p>
          <a:p>
            <a:pPr>
              <a:buFont typeface="Arial" panose="020B0604020202020204" pitchFamily="34" charset="0"/>
              <a:buChar char="•"/>
            </a:pPr>
            <a:r>
              <a:rPr lang="vi-VN"/>
              <a:t>Học kiến thức nền: màu sắc, bố cục, typography </a:t>
            </a:r>
          </a:p>
          <a:p>
            <a:pPr>
              <a:buFont typeface="Arial" panose="020B0604020202020204" pitchFamily="34" charset="0"/>
              <a:buChar char="•"/>
            </a:pPr>
            <a:r>
              <a:rPr lang="vi-VN"/>
              <a:t>Sử dụng phần mềm: Adobe Photoshop, Adobe Illustrator, Figma </a:t>
            </a:r>
          </a:p>
          <a:p>
            <a:pPr>
              <a:buFont typeface="Arial" panose="020B0604020202020204" pitchFamily="34" charset="0"/>
              <a:buChar char="•"/>
            </a:pPr>
            <a:r>
              <a:rPr lang="vi-VN"/>
              <a:t>Thực hành dự án thực tế </a:t>
            </a:r>
          </a:p>
          <a:p>
            <a:pPr>
              <a:buFont typeface="Arial" panose="020B0604020202020204" pitchFamily="34" charset="0"/>
              <a:buChar char="•"/>
            </a:pPr>
            <a:r>
              <a:rPr lang="vi-VN"/>
              <a:t>Xây dựng portfolio cá nhân </a:t>
            </a:r>
          </a:p>
          <a:p>
            <a:r>
              <a:rPr lang="vi-VN" b="1"/>
              <a:t>💼 Việc làm trong ngành thiết kế đồ họa</a:t>
            </a:r>
          </a:p>
          <a:p>
            <a:pPr>
              <a:buFont typeface="Arial" panose="020B0604020202020204" pitchFamily="34" charset="0"/>
              <a:buChar char="•"/>
            </a:pPr>
            <a:r>
              <a:rPr lang="vi-VN"/>
              <a:t>Designer tại công ty, agency </a:t>
            </a:r>
          </a:p>
          <a:p>
            <a:pPr>
              <a:buFont typeface="Arial" panose="020B0604020202020204" pitchFamily="34" charset="0"/>
              <a:buChar char="•"/>
            </a:pPr>
            <a:r>
              <a:rPr lang="vi-VN"/>
              <a:t>Freelance (thiết kế tự do) </a:t>
            </a:r>
          </a:p>
          <a:p>
            <a:pPr>
              <a:buFont typeface="Arial" panose="020B0604020202020204" pitchFamily="34" charset="0"/>
              <a:buChar char="•"/>
            </a:pPr>
            <a:r>
              <a:rPr lang="vi-VN"/>
              <a:t>Các vị trí: thiết kế logo, branding, quảng cáo, UI/UX </a:t>
            </a:r>
          </a:p>
          <a:p>
            <a:pPr>
              <a:buFont typeface="Arial" panose="020B0604020202020204" pitchFamily="34" charset="0"/>
              <a:buChar char="•"/>
            </a:pPr>
            <a:r>
              <a:rPr lang="vi-VN"/>
              <a:t>Cơ hội làm việc đa lĩnh vực (marketing, truyền thông, công nghệ) </a:t>
            </a:r>
          </a:p>
          <a:p>
            <a:r>
              <a:rPr lang="vi-VN" b="1"/>
              <a:t>🚀 Cơ hội phát triển</a:t>
            </a:r>
          </a:p>
          <a:p>
            <a:pPr>
              <a:buFont typeface="Arial" panose="020B0604020202020204" pitchFamily="34" charset="0"/>
              <a:buChar char="•"/>
            </a:pPr>
            <a:r>
              <a:rPr lang="vi-VN"/>
              <a:t>Nhu cầu nhân lực cao </a:t>
            </a:r>
          </a:p>
          <a:p>
            <a:pPr>
              <a:buFont typeface="Arial" panose="020B0604020202020204" pitchFamily="34" charset="0"/>
              <a:buChar char="•"/>
            </a:pPr>
            <a:r>
              <a:rPr lang="vi-VN"/>
              <a:t>Thu nhập linh hoạt theo kỹ năng </a:t>
            </a:r>
          </a:p>
          <a:p>
            <a:pPr>
              <a:buFont typeface="Arial" panose="020B0604020202020204" pitchFamily="34" charset="0"/>
              <a:buChar char="•"/>
            </a:pPr>
            <a:r>
              <a:rPr lang="vi-VN"/>
              <a:t>Có thể phát triển lên: Art Director, Creative Director </a:t>
            </a:r>
          </a:p>
          <a:p>
            <a:pPr>
              <a:buFont typeface="Arial" panose="020B0604020202020204" pitchFamily="34" charset="0"/>
              <a:buChar char="•"/>
            </a:pPr>
            <a:r>
              <a:rPr lang="vi-VN"/>
              <a:t>Làm việc quốc tế / remote</a:t>
            </a:r>
          </a:p>
          <a:p>
            <a:endParaRPr lang="vi-VN"/>
          </a:p>
        </p:txBody>
      </p:sp>
    </p:spTree>
    <p:extLst>
      <p:ext uri="{BB962C8B-B14F-4D97-AF65-F5344CB8AC3E}">
        <p14:creationId xmlns:p14="http://schemas.microsoft.com/office/powerpoint/2010/main" val="162632854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16</TotalTime>
  <Words>378</Words>
  <Application>Microsoft Office PowerPoint</Application>
  <PresentationFormat>Widescreen</PresentationFormat>
  <Paragraphs>40</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Century Gothic</vt:lpstr>
      <vt:lpstr>Times New Roman</vt:lpstr>
      <vt:lpstr>Wingdings 3</vt:lpstr>
      <vt:lpstr>Ion</vt:lpstr>
      <vt:lpstr>BÀI 33: NGHỀ THIẾT KẾ ĐỒ HỌA MÁY TÍNH</vt:lpstr>
      <vt:lpstr> 1: Khái niệm về thiết kế đồ họa</vt:lpstr>
      <vt:lpstr>2.Kiến thức, kĩ năng cần có của người thiết kế đồ họa</vt:lpstr>
      <vt:lpstr> 3.Học tập và việc làm trong ngành thiết kế đồ họa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33: NGHỀ THIẾT KẾ ĐỒ HỌA MÁY TÍNH</dc:title>
  <dc:creator>Windows</dc:creator>
  <cp:lastModifiedBy>Windows</cp:lastModifiedBy>
  <cp:revision>1</cp:revision>
  <dcterms:created xsi:type="dcterms:W3CDTF">2026-04-23T08:13:05Z</dcterms:created>
  <dcterms:modified xsi:type="dcterms:W3CDTF">2026-04-23T08:29:46Z</dcterms:modified>
</cp:coreProperties>
</file>